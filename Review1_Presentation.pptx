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Data-Driven Code Stylometry and Authorship Verification using XGBoost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Session: 2026-27</a:t>
            </a:r>
          </a:p>
          <a:p>
            <a:pPr>
              <a:defRPr sz="2000"/>
            </a:pPr>
            <a:r>
              <a:t>Department: CSE-AIML</a:t>
            </a:r>
          </a:p>
          <a:p>
            <a:pPr>
              <a:defRPr sz="2000"/>
            </a:pPr>
            <a:r>
              <a:t>ABES Engineering College, Ghaziabad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Guide: Dr. Dhyanendra Jain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Team: Ashutosh Kumar, Anant Krishna, Akash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Abstract</a:t>
            </a:r>
          </a:p>
          <a:p>
            <a:pPr>
              <a:defRPr sz="1800"/>
            </a:pPr>
            <a:r>
              <a:t>Problem Statement</a:t>
            </a:r>
          </a:p>
          <a:p>
            <a:pPr>
              <a:defRPr sz="1800"/>
            </a:pPr>
            <a:r>
              <a:t>Objectives</a:t>
            </a:r>
          </a:p>
          <a:p>
            <a:pPr>
              <a:defRPr sz="1800"/>
            </a:pPr>
            <a:r>
              <a:t>Literature Review I</a:t>
            </a:r>
          </a:p>
          <a:p>
            <a:pPr>
              <a:defRPr sz="1800"/>
            </a:pPr>
            <a:r>
              <a:t>Literature Review II</a:t>
            </a:r>
          </a:p>
          <a:p>
            <a:pPr>
              <a:defRPr sz="1800"/>
            </a:pPr>
            <a:r>
              <a:t>Gap Analysis</a:t>
            </a:r>
          </a:p>
          <a:p>
            <a:pPr>
              <a:defRPr sz="1800"/>
            </a:pPr>
            <a:r>
              <a:t>Proposed Methodology</a:t>
            </a:r>
          </a:p>
          <a:p>
            <a:pPr>
              <a:defRPr sz="1800"/>
            </a:pPr>
            <a:r>
              <a:t>Model Evaluation Framework</a:t>
            </a:r>
          </a:p>
          <a:p>
            <a:pPr>
              <a:defRPr sz="1800"/>
            </a:pPr>
            <a:r>
              <a:t>Technology Stack</a:t>
            </a:r>
          </a:p>
          <a:p>
            <a:pPr>
              <a:defRPr sz="1800"/>
            </a:pPr>
            <a:r>
              <a:t>Timeline</a:t>
            </a:r>
          </a:p>
          <a:p>
            <a:pPr>
              <a:defRPr sz="1800"/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Code stylometry is the analysis of programming style to identify authors.</a:t>
            </a:r>
            <a:br/>
            <a:br/>
            <a:r>
              <a:t>Need: Software IP theft, plagiarism, and AI-generated code complicate authorship verification.</a:t>
            </a:r>
            <a:br/>
            <a:br/>
            <a:r>
              <a:t>Proposed Solution: A data-driven framework using XGBoost. We extract lexical, syntactic, layout, and AST features to verify author identity with high precision.</a:t>
            </a:r>
            <a:br/>
            <a:br/>
            <a:r>
              <a:t>Workflow: Source Code ➔ Feature Extraction ➔ XGBoost ➔ Author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Current Challenges:</a:t>
            </a:r>
          </a:p>
          <a:p>
            <a:pPr>
              <a:defRPr sz="1800"/>
            </a:pPr>
            <a:r>
              <a:t>- Source code plagiarism in academia and industry</a:t>
            </a:r>
          </a:p>
          <a:p>
            <a:pPr>
              <a:defRPr sz="1800"/>
            </a:pPr>
            <a:r>
              <a:t>- Distinguishing between human-written and AI-assisted code</a:t>
            </a:r>
          </a:p>
          <a:p>
            <a:pPr>
              <a:defRPr sz="1800"/>
            </a:pPr>
            <a:r>
              <a:t>- Software intellectual property (IP) theft</a:t>
            </a:r>
          </a:p>
          <a:p>
            <a:pPr>
              <a:defRPr sz="1800"/>
            </a:pPr>
            <a:r>
              <a:t>Target Users:</a:t>
            </a:r>
          </a:p>
          <a:p>
            <a:pPr>
              <a:defRPr sz="1800"/>
            </a:pPr>
            <a:r>
              <a:t>- Universities &amp; Online Coding Platforms</a:t>
            </a:r>
          </a:p>
          <a:p>
            <a:pPr>
              <a:defRPr sz="1800"/>
            </a:pPr>
            <a:r>
              <a:t>- Cyber Forensics &amp; Software Auditing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Identify Developer Coding Style via lexical and structural patterns.</a:t>
            </a:r>
          </a:p>
          <a:p>
            <a:pPr>
              <a:defRPr sz="1800"/>
            </a:pPr>
            <a:r>
              <a:t>Verify Code Authorship by accurately predicting the programmer's identity.</a:t>
            </a:r>
          </a:p>
          <a:p>
            <a:pPr>
              <a:defRPr sz="1800"/>
            </a:pPr>
            <a:r>
              <a:t>Detect Plagiarism by identifying anomalous code styles.</a:t>
            </a:r>
          </a:p>
          <a:p>
            <a:pPr>
              <a:defRPr sz="1800"/>
            </a:pPr>
            <a:r>
              <a:t>Improve Prediction using XGBoost for scalable tabular data classification.</a:t>
            </a:r>
          </a:p>
          <a:p>
            <a:pPr>
              <a:defRPr sz="1800"/>
            </a:pPr>
            <a:r>
              <a:t>Build an Explainable AI System to map predictions back to specific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Abuhamad et al. (2021): Random Forest on C++ | 89.4% | Limitation: High dimensionality.</a:t>
            </a:r>
          </a:p>
          <a:p>
            <a:pPr>
              <a:defRPr sz="1800"/>
            </a:pPr>
            <a:r>
              <a:t>Bogomolov et al. (2022): AST + Bi-LSTM on Python | 91.2% | Limitation: Computationally expensive.</a:t>
            </a:r>
          </a:p>
          <a:p>
            <a:pPr>
              <a:defRPr sz="1800"/>
            </a:pPr>
            <a:r>
              <a:t>Zhang et al. (2023): CodeBERT on AI4Code | 94.5% | Limitation: Needs massive GPUs.</a:t>
            </a:r>
          </a:p>
          <a:p>
            <a:pPr>
              <a:defRPr sz="1800"/>
            </a:pPr>
            <a:r>
              <a:t>Singh et al. (2023): N-grams + SVM | 86.8% | Limitation: Fails to capture deep semantics.</a:t>
            </a:r>
          </a:p>
          <a:p>
            <a:pPr>
              <a:defRPr sz="1800"/>
            </a:pPr>
            <a:r>
              <a:t>Li et al. (2024): Graph Neural Networks | 92.1% | Limitation: Complex graph construction overhead.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Common Findings: Abstract Syntax Trees (AST) are the most robust structural features.</a:t>
            </a:r>
          </a:p>
          <a:p>
            <a:pPr>
              <a:defRPr sz="1800"/>
            </a:pPr>
            <a:r>
              <a:t>Research Gaps: Deep learning models act as 'black boxes' and lack explainability. Traditional models scale poorly on complex features.</a:t>
            </a:r>
          </a:p>
          <a:p>
            <a:pPr>
              <a:defRPr sz="1800"/>
            </a:pPr>
            <a:r>
              <a:t>Recent Trends (2023-2025): Layout metrics and lexical fingerprinting are useful but sensitive to code formatters.</a:t>
            </a:r>
          </a:p>
          <a:p>
            <a:pPr>
              <a:defRPr sz="1800"/>
            </a:pPr>
            <a:r>
              <a:t>Opportunity: Combine structural AST features with XGBoost for high accuracy, speed, and interpretability.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Analysis: Why XGBoost?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Random Forest: Overfits on sparse data.</a:t>
            </a:r>
          </a:p>
          <a:p>
            <a:pPr>
              <a:defRPr sz="1800"/>
            </a:pPr>
            <a:r>
              <a:t>SVM: High training time on large non-linear datasets.</a:t>
            </a:r>
          </a:p>
          <a:p>
            <a:pPr>
              <a:defRPr sz="1800"/>
            </a:pPr>
            <a:r>
              <a:t>Deep Learning (CNN/LSTM/GNN): Black box, requires GPU acceleration.</a:t>
            </a:r>
          </a:p>
          <a:p>
            <a:pPr>
              <a:defRPr sz="1800"/>
            </a:pPr>
            <a:r>
              <a:t>Proposed XGBoost Improvement:</a:t>
            </a:r>
          </a:p>
          <a:p>
            <a:pPr>
              <a:defRPr sz="1800"/>
            </a:pPr>
            <a:r>
              <a:t>- Handles sparse matrices efficiently.</a:t>
            </a:r>
          </a:p>
          <a:p>
            <a:pPr>
              <a:defRPr sz="1800"/>
            </a:pPr>
            <a:r>
              <a:t>- Provides Feature Importance scores for explainability.</a:t>
            </a:r>
          </a:p>
          <a:p>
            <a:pPr>
              <a:defRPr sz="1800"/>
            </a:pPr>
            <a:r>
              <a:t>- Scales well and processes tabular AST metrics without complex graph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Dataset Collection &amp; Source Code Cleaning</a:t>
            </a:r>
          </a:p>
          <a:p>
            <a:pPr>
              <a:defRPr sz="1800"/>
            </a:pPr>
            <a:r>
              <a:t>2. Feature Extraction: Lexical, Token Frequency, AST Depth, Complexity Metrics</a:t>
            </a:r>
          </a:p>
          <a:p>
            <a:pPr>
              <a:defRPr sz="1800"/>
            </a:pPr>
            <a:r>
              <a:t>3. Feature Engineering &amp; Dimensionality Reduction</a:t>
            </a:r>
          </a:p>
          <a:p>
            <a:pPr>
              <a:defRPr sz="1800"/>
            </a:pPr>
            <a:r>
              <a:t>4. Train-Test Split</a:t>
            </a:r>
          </a:p>
          <a:p>
            <a:pPr>
              <a:defRPr sz="1800"/>
            </a:pPr>
            <a:r>
              <a:t>5. XGBoost Model Training</a:t>
            </a:r>
          </a:p>
          <a:p>
            <a:pPr>
              <a:defRPr sz="1800"/>
            </a:pPr>
            <a:r>
              <a:t>6. Hyperparameter Tuning (GridSearch / RandomSearch)</a:t>
            </a:r>
          </a:p>
          <a:p>
            <a:pPr>
              <a:defRPr sz="1800"/>
            </a:pPr>
            <a:r>
              <a:t>7. Prediction &amp; Author Verification</a:t>
            </a:r>
          </a:p>
          <a:p>
            <a:pPr>
              <a:defRPr sz="1800"/>
            </a:pPr>
            <a:r>
              <a:t>8. Performance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 Evaluation framework proposed for Review-1. Results pending implementation **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Dataset Split: 80% Training, 20% Testing</a:t>
            </a:r>
          </a:p>
          <a:p>
            <a:pPr>
              <a:defRPr sz="1800"/>
            </a:pPr>
            <a:r>
              <a:t>Validation: 5-Fold Cross Validation</a:t>
            </a:r>
          </a:p>
          <a:p>
            <a:pPr>
              <a:defRPr sz="1800"/>
            </a:pPr>
            <a:r>
              <a:t>Metrics to track:</a:t>
            </a:r>
          </a:p>
          <a:p>
            <a:pPr>
              <a:defRPr sz="1800"/>
            </a:pPr>
            <a:r>
              <a:t>- Accuracy, Precision, Recall, F1-score</a:t>
            </a:r>
          </a:p>
          <a:p>
            <a:pPr>
              <a:defRPr sz="1800"/>
            </a:pPr>
            <a:r>
              <a:t>- ROC-AUC, Precision-Recall AUC</a:t>
            </a:r>
          </a:p>
          <a:p>
            <a:pPr>
              <a:defRPr sz="1800"/>
            </a:pPr>
            <a:r>
              <a:t>- Log 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Performance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 These values are project goals, not experimental results **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Accuracy Target: 93 - 97%</a:t>
            </a:r>
          </a:p>
          <a:p>
            <a:pPr>
              <a:defRPr sz="1800"/>
            </a:pPr>
            <a:r>
              <a:t>Precision Target: 92 - 96%</a:t>
            </a:r>
          </a:p>
          <a:p>
            <a:pPr>
              <a:defRPr sz="1800"/>
            </a:pPr>
            <a:r>
              <a:t>Recall Target: 91 - 96%</a:t>
            </a:r>
          </a:p>
          <a:p>
            <a:pPr>
              <a:defRPr sz="1800"/>
            </a:pPr>
            <a:r>
              <a:t>F1 Score Target: 92 - 96%</a:t>
            </a:r>
          </a:p>
          <a:p>
            <a:pPr>
              <a:defRPr sz="1800"/>
            </a:pPr>
            <a:r>
              <a:t>ROC-AUC Target: &gt; 0.95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Final review will include ROC Curve, Precision-Recall Curve, and Confusion Matrix visualizations.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Programming: Python</a:t>
            </a:r>
          </a:p>
          <a:p>
            <a:pPr>
              <a:defRPr sz="1800"/>
            </a:pPr>
            <a:r>
              <a:t>Libraries:</a:t>
            </a:r>
          </a:p>
          <a:p>
            <a:pPr>
              <a:defRPr sz="1800"/>
            </a:pPr>
            <a:r>
              <a:t>- XGBoost, Scikit-learn, Pandas, NumPy</a:t>
            </a:r>
          </a:p>
          <a:p>
            <a:pPr>
              <a:defRPr sz="1800"/>
            </a:pPr>
            <a:r>
              <a:t>- Matplotlib, Seaborn</a:t>
            </a:r>
          </a:p>
          <a:p>
            <a:pPr>
              <a:defRPr sz="1800"/>
            </a:pPr>
            <a:r>
              <a:t>- Tree-sitter (AST Parsing)</a:t>
            </a:r>
          </a:p>
          <a:p>
            <a:pPr>
              <a:defRPr sz="1800"/>
            </a:pPr>
            <a:r>
              <a:t>Dataset: Google Code Jam, GitHub Open Source, AI4Code</a:t>
            </a:r>
          </a:p>
          <a:p>
            <a:pPr>
              <a:defRPr sz="1800"/>
            </a:pPr>
            <a:r>
              <a:t>IDE &amp; Tools: VS Code, Jupyter Notebook,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July: Literature Survey (Completed)</a:t>
            </a:r>
          </a:p>
          <a:p>
            <a:pPr>
              <a:defRPr sz="1800"/>
            </a:pPr>
            <a:r>
              <a:t>August: Dataset Collection &amp; Feature Engineering (In Progress)</a:t>
            </a:r>
          </a:p>
          <a:p>
            <a:pPr>
              <a:defRPr sz="1800"/>
            </a:pPr>
            <a:r>
              <a:t>September: Model Development</a:t>
            </a:r>
          </a:p>
          <a:p>
            <a:pPr>
              <a:defRPr sz="1800"/>
            </a:pPr>
            <a:r>
              <a:t>October: Hyperparameter Tuning &amp; Performance Evaluation</a:t>
            </a:r>
          </a:p>
          <a:p>
            <a:pPr>
              <a:defRPr sz="1800"/>
            </a:pPr>
            <a:r>
              <a:t>November: Testing &amp; Paper Writing</a:t>
            </a:r>
          </a:p>
          <a:p>
            <a:pPr>
              <a:defRPr sz="1800"/>
            </a:pPr>
            <a:r>
              <a:t>December: Final Report &amp;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Abuhamad et al., 'Large-Scale Code Authorship Attribution', IEEE TIFS, 2021.</a:t>
            </a:r>
          </a:p>
          <a:p>
            <a:pPr>
              <a:defRPr sz="1800"/>
            </a:pPr>
            <a:r>
              <a:t>2. Bogomolov et al., 'Authorship Attribution using ASTs', ICSE, 2022.</a:t>
            </a:r>
          </a:p>
          <a:p>
            <a:pPr>
              <a:defRPr sz="1800"/>
            </a:pPr>
            <a:r>
              <a:t>3. Zhang et al., 'CodeBERT for Code Stylometry', IEEE Access, 2023.</a:t>
            </a:r>
          </a:p>
          <a:p>
            <a:pPr>
              <a:defRPr sz="1800"/>
            </a:pPr>
            <a:r>
              <a:t>4. Singh et al., 'Stylometric Feature Analysis', IEEE ICCS, 2023.</a:t>
            </a:r>
          </a:p>
          <a:p>
            <a:pPr>
              <a:defRPr sz="1800"/>
            </a:pPr>
            <a:r>
              <a:t>5. Li et al., 'Graph Neural Networks for Source Code Analysis', IEEE TSE, 2024.</a:t>
            </a:r>
          </a:p>
          <a:p>
            <a:pPr>
              <a:defRPr sz="1800"/>
            </a:pPr>
            <a:r>
              <a:t>6. Chen and Guestrin, 'XGBoost: A Scalable Tree Boosting System', ACM SIGKDD.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